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</a:rPr>
              <a:t>Semiconductor Burn-In</a:t>
            </a:r>
            <a:br/>
            <a:r>
              <a:t>Screening and Drift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475569"/>
                </a:solidFill>
              </a:rPr>
              <a:t>High-reliability screening pipeline for early defect detection and late-stage degradation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005840"/>
            <a:ext cx="3200400" cy="42062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49640" y="14173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</a:rPr>
              <a:t>Objective</a:t>
            </a:r>
            <a:br/>
            <a:r>
              <a:t>• Reduce escapes</a:t>
            </a:r>
            <a:br/>
            <a:r>
              <a:t>• Detect lot-level anomalies</a:t>
            </a:r>
            <a:br/>
            <a:r>
              <a:t>• Predict late drift</a:t>
            </a:r>
            <a:br/>
            <a:r>
              <a:t>• Support audit-ready QA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264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Project: Burn-In Screening with Contextual Anomaly Detection and Drift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9784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Static specification limits are not sufficient for high-reliability semiconductor screening.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Normal lot-to-lot variation can hide abnormal devices that only drift later in burn-in.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Latent defects may appear acceptable at 0h and 24h, but fail catastrophically by 96h or 168h.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The operational requirement is to minimize false negatives while preserving reasonable production yield.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Dual-Module Screening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383280" cy="1645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627632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293B"/>
                </a:solidFill>
              </a:rPr>
              <a:t>Module A</a:t>
            </a:r>
          </a:p>
          <a:p>
            <a:r>
              <a:rPr sz="2200" b="1">
                <a:solidFill>
                  <a:srgbClr val="2563EB"/>
                </a:solidFill>
              </a:rPr>
              <a:t>Contextual anomaly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1645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53712" y="1627632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293B"/>
                </a:solidFill>
              </a:rPr>
              <a:t>Module B</a:t>
            </a:r>
          </a:p>
          <a:p>
            <a:r>
              <a:rPr sz="2200" b="1">
                <a:solidFill>
                  <a:srgbClr val="EA580C"/>
                </a:solidFill>
              </a:rPr>
              <a:t>Late-stage drift forecast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63040"/>
            <a:ext cx="3383280" cy="164592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02752" y="1627632"/>
            <a:ext cx="30632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293B"/>
                </a:solidFill>
              </a:rPr>
              <a:t>QA Layer</a:t>
            </a:r>
          </a:p>
          <a:p>
            <a:r>
              <a:rPr sz="2200" b="1">
                <a:solidFill>
                  <a:srgbClr val="16A34A"/>
                </a:solidFill>
              </a:rPr>
              <a:t>Explainable disposition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058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Module A uses Mahalanobis distance, Isolation Forest, and LOF to catch context-specific outliers early.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Module B estimates future degradation from 0h/24h measurements and drift-rate features.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The final layer outputs SHAP-based explanations and auditable rule-based QA summaries.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Data and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Delta features capture early drift: Δ0-24h and percentage drift rate.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Lot-level Z-scores normalize each die against its own production context.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Stress interaction terms capture burn-in chamber temperature, voltage, and acceleration effects.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These indicators reveal devices that are within generic specs but abnormal in process context.</a:t>
            </a:r>
          </a:p>
        </p:txBody>
      </p:sp>
      <p:pic>
        <p:nvPicPr>
          <p:cNvPr id="4" name="Picture 3" descr="kaggle_secom_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554480"/>
            <a:ext cx="402336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Module A: Early Outlier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Ensemble detector combines covariance-aware Mahalanobis distance, Isolation Forest, and LOF.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Scores are fused and thresholded with cost-sensitive Fβ optimization to reduce false negatives.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This is the first line of defense for early burn-in screening and lot-level escape prevention.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Operational aim: catch bad units before they reach later stages of stress exposure.</a:t>
            </a:r>
          </a:p>
        </p:txBody>
      </p:sp>
      <p:pic>
        <p:nvPicPr>
          <p:cNvPr id="4" name="Picture 3" descr="kaggle_secom_roc_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66344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Module B: Drift Forecasting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5669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The forecaster predicts late degradation using only early-life measurements and drift velocity inputs.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Gradient boosting is optimized with MAE to fit the physical magnitude of degradation.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Bayesian regression provides a predictive distribution and 95% upper confidence limit.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If the UCL exceeds the acceptable safety threshold, the device is flagged for early abort or rejection.</a:t>
            </a:r>
          </a:p>
        </p:txBody>
      </p:sp>
      <p:pic>
        <p:nvPicPr>
          <p:cNvPr id="4" name="Picture 3" descr="kaggle_cmapss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645920"/>
            <a:ext cx="475488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Key Results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192024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1" y="1627632"/>
            <a:ext cx="1600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293B"/>
                </a:solidFill>
              </a:rPr>
              <a:t>Units screened</a:t>
            </a:r>
          </a:p>
          <a:p>
            <a:r>
              <a:rPr sz="2200" b="1">
                <a:solidFill>
                  <a:srgbClr val="1E40AF"/>
                </a:solidFill>
              </a:rPr>
              <a:t>1,250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1463040"/>
            <a:ext cx="356616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90672" y="1627632"/>
            <a:ext cx="32461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293B"/>
                </a:solidFill>
              </a:rPr>
              <a:t>Flight qualified</a:t>
            </a:r>
          </a:p>
          <a:p>
            <a:r>
              <a:rPr sz="2200" b="1">
                <a:solidFill>
                  <a:srgbClr val="16A34A"/>
                </a:solidFill>
              </a:rPr>
              <a:t>1,123 (89.84%)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463040"/>
            <a:ext cx="219456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4031" y="1627632"/>
            <a:ext cx="1874519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293B"/>
                </a:solidFill>
              </a:rPr>
              <a:t>Module A rejects</a:t>
            </a:r>
          </a:p>
          <a:p>
            <a:r>
              <a:rPr sz="2200" b="1">
                <a:solidFill>
                  <a:srgbClr val="EA580C"/>
                </a:solidFill>
              </a:rPr>
              <a:t>90 (7.20%)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463040"/>
            <a:ext cx="1920240" cy="14630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65792" y="1627632"/>
            <a:ext cx="1600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1E293B"/>
                </a:solidFill>
              </a:rPr>
              <a:t>Module B aborts</a:t>
            </a:r>
          </a:p>
          <a:p>
            <a:r>
              <a:rPr sz="2200" b="1">
                <a:solidFill>
                  <a:srgbClr val="9333EA"/>
                </a:solidFill>
              </a:rPr>
              <a:t>37 (2.96%)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This pattern reflects the intended balance: catch early anomalies, prevent late drift failures, and retain useful yield.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The project reports show that the screening logic is effective at reducing operational exposure while preserving production flow.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Residual risk remains measurable, which is why the QA layer and human review remain critical for safety-critical use cases.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QA Recommendation and Operational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Use the model as a decision-support tool in safety-critical production screening.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Approve or reject based on combined evidence from anomaly score, future drift forecast, and uncertainty envelope.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Keep SHAP and surrogate rules as part of the approval trail for auditability and engineering review.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1F2937"/>
                </a:solidFill>
              </a:rPr>
              <a:t>Recalibrate thresholds as process drift, lot composition, or production conditions change over time.</a:t>
            </a:r>
          </a:p>
        </p:txBody>
      </p:sp>
      <p:pic>
        <p:nvPicPr>
          <p:cNvPr id="4" name="Picture 3" descr="kaggle_cmapss_residual_diagnos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554480"/>
            <a:ext cx="466344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42416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E2E8F0"/>
                </a:solidFill>
              </a:rPr>
              <a:t>The pipeline combines contextual anomaly detection with predictive degradation forecasting to improve early screening quality. It provides actionable decisions for burn-in operation while preserving transparency, auditable QA reasoning, and a measurable reduction in late-stage failure risk.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